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36"/>
    <p:restoredTop sz="95897"/>
  </p:normalViewPr>
  <p:slideViewPr>
    <p:cSldViewPr snapToGrid="0" snapToObjects="1">
      <p:cViewPr>
        <p:scale>
          <a:sx n="103" d="100"/>
          <a:sy n="103" d="100"/>
        </p:scale>
        <p:origin x="256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5D8ADB-22E4-452C-A383-7D6F7CDB9F0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45436B2-F365-4E5B-B289-32C23518B0B3}">
      <dgm:prSet/>
      <dgm:spPr/>
      <dgm:t>
        <a:bodyPr/>
        <a:lstStyle/>
        <a:p>
          <a:r>
            <a:rPr lang="en-US"/>
            <a:t>It was difficult to perform a comparison result with just the genetic algorithm.</a:t>
          </a:r>
        </a:p>
      </dgm:t>
    </dgm:pt>
    <dgm:pt modelId="{AF2C27FC-5053-4067-A33A-5B903917400B}" type="parTrans" cxnId="{96328CB4-3325-4DFF-8E7A-187922A15E66}">
      <dgm:prSet/>
      <dgm:spPr/>
      <dgm:t>
        <a:bodyPr/>
        <a:lstStyle/>
        <a:p>
          <a:endParaRPr lang="en-US"/>
        </a:p>
      </dgm:t>
    </dgm:pt>
    <dgm:pt modelId="{8D756E47-FF85-46E9-8DB0-CD75F3BF85E3}" type="sibTrans" cxnId="{96328CB4-3325-4DFF-8E7A-187922A15E66}">
      <dgm:prSet/>
      <dgm:spPr/>
      <dgm:t>
        <a:bodyPr/>
        <a:lstStyle/>
        <a:p>
          <a:endParaRPr lang="en-US"/>
        </a:p>
      </dgm:t>
    </dgm:pt>
    <dgm:pt modelId="{DA668154-19F2-4D50-983B-AEB672B01666}">
      <dgm:prSet/>
      <dgm:spPr/>
      <dgm:t>
        <a:bodyPr/>
        <a:lstStyle/>
        <a:p>
          <a:r>
            <a:rPr lang="en-US"/>
            <a:t>The WoC results didn’t perform as expected they would. Depending on the number of Vehicles the result will fluctuate. </a:t>
          </a:r>
        </a:p>
      </dgm:t>
    </dgm:pt>
    <dgm:pt modelId="{7794FF8A-84A0-4FE5-96AE-991737E2812F}" type="parTrans" cxnId="{2C1FDC06-FDFB-4037-BC1B-A65608E8D3F3}">
      <dgm:prSet/>
      <dgm:spPr/>
      <dgm:t>
        <a:bodyPr/>
        <a:lstStyle/>
        <a:p>
          <a:endParaRPr lang="en-US"/>
        </a:p>
      </dgm:t>
    </dgm:pt>
    <dgm:pt modelId="{8C36FD1F-697A-42BD-AE7C-588C2FA7541A}" type="sibTrans" cxnId="{2C1FDC06-FDFB-4037-BC1B-A65608E8D3F3}">
      <dgm:prSet/>
      <dgm:spPr/>
      <dgm:t>
        <a:bodyPr/>
        <a:lstStyle/>
        <a:p>
          <a:endParaRPr lang="en-US"/>
        </a:p>
      </dgm:t>
    </dgm:pt>
    <dgm:pt modelId="{BAD8B538-51A9-4800-B733-5744A14F1030}">
      <dgm:prSet/>
      <dgm:spPr/>
      <dgm:t>
        <a:bodyPr/>
        <a:lstStyle/>
        <a:p>
          <a:r>
            <a:rPr lang="en-US"/>
            <a:t>It seems like the vehicle would make multiple trips back to the original depo instead of going straight to the next stop.</a:t>
          </a:r>
        </a:p>
      </dgm:t>
    </dgm:pt>
    <dgm:pt modelId="{DC8E3149-B539-4886-8732-547E94076AD1}" type="parTrans" cxnId="{E76A18F8-77CB-4C70-A051-1FA29BE8FBCA}">
      <dgm:prSet/>
      <dgm:spPr/>
      <dgm:t>
        <a:bodyPr/>
        <a:lstStyle/>
        <a:p>
          <a:endParaRPr lang="en-US"/>
        </a:p>
      </dgm:t>
    </dgm:pt>
    <dgm:pt modelId="{0B6256ED-244F-4ECE-BB42-C8F02D3FD399}" type="sibTrans" cxnId="{E76A18F8-77CB-4C70-A051-1FA29BE8FBCA}">
      <dgm:prSet/>
      <dgm:spPr/>
      <dgm:t>
        <a:bodyPr/>
        <a:lstStyle/>
        <a:p>
          <a:endParaRPr lang="en-US"/>
        </a:p>
      </dgm:t>
    </dgm:pt>
    <dgm:pt modelId="{6BB8A7A6-923B-7C4C-8E42-43EEE619E5A0}" type="pres">
      <dgm:prSet presAssocID="{115D8ADB-22E4-452C-A383-7D6F7CDB9F0A}" presName="outerComposite" presStyleCnt="0">
        <dgm:presLayoutVars>
          <dgm:chMax val="5"/>
          <dgm:dir/>
          <dgm:resizeHandles val="exact"/>
        </dgm:presLayoutVars>
      </dgm:prSet>
      <dgm:spPr/>
    </dgm:pt>
    <dgm:pt modelId="{F37ABC58-5983-734C-9346-2C55E12E0CE8}" type="pres">
      <dgm:prSet presAssocID="{115D8ADB-22E4-452C-A383-7D6F7CDB9F0A}" presName="dummyMaxCanvas" presStyleCnt="0">
        <dgm:presLayoutVars/>
      </dgm:prSet>
      <dgm:spPr/>
    </dgm:pt>
    <dgm:pt modelId="{ED6576F8-FA70-E047-AF63-9AB3386A2906}" type="pres">
      <dgm:prSet presAssocID="{115D8ADB-22E4-452C-A383-7D6F7CDB9F0A}" presName="ThreeNodes_1" presStyleLbl="node1" presStyleIdx="0" presStyleCnt="3">
        <dgm:presLayoutVars>
          <dgm:bulletEnabled val="1"/>
        </dgm:presLayoutVars>
      </dgm:prSet>
      <dgm:spPr/>
    </dgm:pt>
    <dgm:pt modelId="{D62EEC7C-5EF8-A542-A95B-3817F560DEA4}" type="pres">
      <dgm:prSet presAssocID="{115D8ADB-22E4-452C-A383-7D6F7CDB9F0A}" presName="ThreeNodes_2" presStyleLbl="node1" presStyleIdx="1" presStyleCnt="3">
        <dgm:presLayoutVars>
          <dgm:bulletEnabled val="1"/>
        </dgm:presLayoutVars>
      </dgm:prSet>
      <dgm:spPr/>
    </dgm:pt>
    <dgm:pt modelId="{F5F607AB-28BB-6942-9C86-E3537BD3A14A}" type="pres">
      <dgm:prSet presAssocID="{115D8ADB-22E4-452C-A383-7D6F7CDB9F0A}" presName="ThreeNodes_3" presStyleLbl="node1" presStyleIdx="2" presStyleCnt="3">
        <dgm:presLayoutVars>
          <dgm:bulletEnabled val="1"/>
        </dgm:presLayoutVars>
      </dgm:prSet>
      <dgm:spPr/>
    </dgm:pt>
    <dgm:pt modelId="{3C87B458-1406-B548-B4D7-62199E5E8641}" type="pres">
      <dgm:prSet presAssocID="{115D8ADB-22E4-452C-A383-7D6F7CDB9F0A}" presName="ThreeConn_1-2" presStyleLbl="fgAccFollowNode1" presStyleIdx="0" presStyleCnt="2">
        <dgm:presLayoutVars>
          <dgm:bulletEnabled val="1"/>
        </dgm:presLayoutVars>
      </dgm:prSet>
      <dgm:spPr/>
    </dgm:pt>
    <dgm:pt modelId="{71D99AE7-553D-6A49-8076-5D9FB695D348}" type="pres">
      <dgm:prSet presAssocID="{115D8ADB-22E4-452C-A383-7D6F7CDB9F0A}" presName="ThreeConn_2-3" presStyleLbl="fgAccFollowNode1" presStyleIdx="1" presStyleCnt="2">
        <dgm:presLayoutVars>
          <dgm:bulletEnabled val="1"/>
        </dgm:presLayoutVars>
      </dgm:prSet>
      <dgm:spPr/>
    </dgm:pt>
    <dgm:pt modelId="{5A8E5D2F-681A-3B48-AA6C-D68F0F7070B5}" type="pres">
      <dgm:prSet presAssocID="{115D8ADB-22E4-452C-A383-7D6F7CDB9F0A}" presName="ThreeNodes_1_text" presStyleLbl="node1" presStyleIdx="2" presStyleCnt="3">
        <dgm:presLayoutVars>
          <dgm:bulletEnabled val="1"/>
        </dgm:presLayoutVars>
      </dgm:prSet>
      <dgm:spPr/>
    </dgm:pt>
    <dgm:pt modelId="{72777CA9-B8AE-D446-A4CD-53ADBBF0D40E}" type="pres">
      <dgm:prSet presAssocID="{115D8ADB-22E4-452C-A383-7D6F7CDB9F0A}" presName="ThreeNodes_2_text" presStyleLbl="node1" presStyleIdx="2" presStyleCnt="3">
        <dgm:presLayoutVars>
          <dgm:bulletEnabled val="1"/>
        </dgm:presLayoutVars>
      </dgm:prSet>
      <dgm:spPr/>
    </dgm:pt>
    <dgm:pt modelId="{20596316-5EF8-4847-BF24-9B0CA9BDB6B0}" type="pres">
      <dgm:prSet presAssocID="{115D8ADB-22E4-452C-A383-7D6F7CDB9F0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1FDC06-FDFB-4037-BC1B-A65608E8D3F3}" srcId="{115D8ADB-22E4-452C-A383-7D6F7CDB9F0A}" destId="{DA668154-19F2-4D50-983B-AEB672B01666}" srcOrd="1" destOrd="0" parTransId="{7794FF8A-84A0-4FE5-96AE-991737E2812F}" sibTransId="{8C36FD1F-697A-42BD-AE7C-588C2FA7541A}"/>
    <dgm:cxn modelId="{8B95F80E-F83E-8F46-8AC7-4B2240B2A14B}" type="presOf" srcId="{8C36FD1F-697A-42BD-AE7C-588C2FA7541A}" destId="{71D99AE7-553D-6A49-8076-5D9FB695D348}" srcOrd="0" destOrd="0" presId="urn:microsoft.com/office/officeart/2005/8/layout/vProcess5"/>
    <dgm:cxn modelId="{5B2F6214-05F1-4F41-9B5C-297D97F1B835}" type="presOf" srcId="{DA668154-19F2-4D50-983B-AEB672B01666}" destId="{D62EEC7C-5EF8-A542-A95B-3817F560DEA4}" srcOrd="0" destOrd="0" presId="urn:microsoft.com/office/officeart/2005/8/layout/vProcess5"/>
    <dgm:cxn modelId="{8E58911B-C7D1-7B47-8684-B9EF4184F685}" type="presOf" srcId="{DA668154-19F2-4D50-983B-AEB672B01666}" destId="{72777CA9-B8AE-D446-A4CD-53ADBBF0D40E}" srcOrd="1" destOrd="0" presId="urn:microsoft.com/office/officeart/2005/8/layout/vProcess5"/>
    <dgm:cxn modelId="{BE1CB54C-36F3-F343-8731-6393CEB38840}" type="presOf" srcId="{8D756E47-FF85-46E9-8DB0-CD75F3BF85E3}" destId="{3C87B458-1406-B548-B4D7-62199E5E8641}" srcOrd="0" destOrd="0" presId="urn:microsoft.com/office/officeart/2005/8/layout/vProcess5"/>
    <dgm:cxn modelId="{6D55794D-26DF-854D-8D0C-06CB35D8948D}" type="presOf" srcId="{BAD8B538-51A9-4800-B733-5744A14F1030}" destId="{20596316-5EF8-4847-BF24-9B0CA9BDB6B0}" srcOrd="1" destOrd="0" presId="urn:microsoft.com/office/officeart/2005/8/layout/vProcess5"/>
    <dgm:cxn modelId="{D2383485-078E-514C-ACB2-DF3E771FEAF0}" type="presOf" srcId="{645436B2-F365-4E5B-B289-32C23518B0B3}" destId="{5A8E5D2F-681A-3B48-AA6C-D68F0F7070B5}" srcOrd="1" destOrd="0" presId="urn:microsoft.com/office/officeart/2005/8/layout/vProcess5"/>
    <dgm:cxn modelId="{30C7DF88-5E8E-4B4D-911E-B777F122D8AD}" type="presOf" srcId="{BAD8B538-51A9-4800-B733-5744A14F1030}" destId="{F5F607AB-28BB-6942-9C86-E3537BD3A14A}" srcOrd="0" destOrd="0" presId="urn:microsoft.com/office/officeart/2005/8/layout/vProcess5"/>
    <dgm:cxn modelId="{96328CB4-3325-4DFF-8E7A-187922A15E66}" srcId="{115D8ADB-22E4-452C-A383-7D6F7CDB9F0A}" destId="{645436B2-F365-4E5B-B289-32C23518B0B3}" srcOrd="0" destOrd="0" parTransId="{AF2C27FC-5053-4067-A33A-5B903917400B}" sibTransId="{8D756E47-FF85-46E9-8DB0-CD75F3BF85E3}"/>
    <dgm:cxn modelId="{E6DF88F1-E965-D04E-9975-CD954D5DF7B7}" type="presOf" srcId="{115D8ADB-22E4-452C-A383-7D6F7CDB9F0A}" destId="{6BB8A7A6-923B-7C4C-8E42-43EEE619E5A0}" srcOrd="0" destOrd="0" presId="urn:microsoft.com/office/officeart/2005/8/layout/vProcess5"/>
    <dgm:cxn modelId="{3C52A7F6-ED77-8940-B7B6-1006FDABD527}" type="presOf" srcId="{645436B2-F365-4E5B-B289-32C23518B0B3}" destId="{ED6576F8-FA70-E047-AF63-9AB3386A2906}" srcOrd="0" destOrd="0" presId="urn:microsoft.com/office/officeart/2005/8/layout/vProcess5"/>
    <dgm:cxn modelId="{E76A18F8-77CB-4C70-A051-1FA29BE8FBCA}" srcId="{115D8ADB-22E4-452C-A383-7D6F7CDB9F0A}" destId="{BAD8B538-51A9-4800-B733-5744A14F1030}" srcOrd="2" destOrd="0" parTransId="{DC8E3149-B539-4886-8732-547E94076AD1}" sibTransId="{0B6256ED-244F-4ECE-BB42-C8F02D3FD399}"/>
    <dgm:cxn modelId="{BFE88F5D-61E4-6348-B6D9-BD8DECC12E60}" type="presParOf" srcId="{6BB8A7A6-923B-7C4C-8E42-43EEE619E5A0}" destId="{F37ABC58-5983-734C-9346-2C55E12E0CE8}" srcOrd="0" destOrd="0" presId="urn:microsoft.com/office/officeart/2005/8/layout/vProcess5"/>
    <dgm:cxn modelId="{4A783572-98C7-A441-BA60-EEE37F60C5F6}" type="presParOf" srcId="{6BB8A7A6-923B-7C4C-8E42-43EEE619E5A0}" destId="{ED6576F8-FA70-E047-AF63-9AB3386A2906}" srcOrd="1" destOrd="0" presId="urn:microsoft.com/office/officeart/2005/8/layout/vProcess5"/>
    <dgm:cxn modelId="{4848C8C6-924F-7844-B3EB-31E37F745DAC}" type="presParOf" srcId="{6BB8A7A6-923B-7C4C-8E42-43EEE619E5A0}" destId="{D62EEC7C-5EF8-A542-A95B-3817F560DEA4}" srcOrd="2" destOrd="0" presId="urn:microsoft.com/office/officeart/2005/8/layout/vProcess5"/>
    <dgm:cxn modelId="{EEA08C18-B670-2049-B424-C9327AE6D467}" type="presParOf" srcId="{6BB8A7A6-923B-7C4C-8E42-43EEE619E5A0}" destId="{F5F607AB-28BB-6942-9C86-E3537BD3A14A}" srcOrd="3" destOrd="0" presId="urn:microsoft.com/office/officeart/2005/8/layout/vProcess5"/>
    <dgm:cxn modelId="{DC380F8A-4F35-5846-B209-0BF138110DC7}" type="presParOf" srcId="{6BB8A7A6-923B-7C4C-8E42-43EEE619E5A0}" destId="{3C87B458-1406-B548-B4D7-62199E5E8641}" srcOrd="4" destOrd="0" presId="urn:microsoft.com/office/officeart/2005/8/layout/vProcess5"/>
    <dgm:cxn modelId="{453D7F71-B35C-E047-ACBD-2006D1F140E8}" type="presParOf" srcId="{6BB8A7A6-923B-7C4C-8E42-43EEE619E5A0}" destId="{71D99AE7-553D-6A49-8076-5D9FB695D348}" srcOrd="5" destOrd="0" presId="urn:microsoft.com/office/officeart/2005/8/layout/vProcess5"/>
    <dgm:cxn modelId="{9AD3C103-D13C-7446-8B96-502A747B1925}" type="presParOf" srcId="{6BB8A7A6-923B-7C4C-8E42-43EEE619E5A0}" destId="{5A8E5D2F-681A-3B48-AA6C-D68F0F7070B5}" srcOrd="6" destOrd="0" presId="urn:microsoft.com/office/officeart/2005/8/layout/vProcess5"/>
    <dgm:cxn modelId="{9DA33DBE-7E6C-454E-A543-28AE0ADDD5FF}" type="presParOf" srcId="{6BB8A7A6-923B-7C4C-8E42-43EEE619E5A0}" destId="{72777CA9-B8AE-D446-A4CD-53ADBBF0D40E}" srcOrd="7" destOrd="0" presId="urn:microsoft.com/office/officeart/2005/8/layout/vProcess5"/>
    <dgm:cxn modelId="{51CAA122-DDE1-134D-B069-42CD38E5C09C}" type="presParOf" srcId="{6BB8A7A6-923B-7C4C-8E42-43EEE619E5A0}" destId="{20596316-5EF8-4847-BF24-9B0CA9BDB6B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EAF33C-73A8-4AF6-99AB-D1D2626730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8011FF0-CA48-459F-A81E-5ED56C645B3C}">
      <dgm:prSet/>
      <dgm:spPr/>
      <dgm:t>
        <a:bodyPr/>
        <a:lstStyle/>
        <a:p>
          <a:r>
            <a:rPr lang="en-US"/>
            <a:t>Fixing the code.</a:t>
          </a:r>
        </a:p>
      </dgm:t>
    </dgm:pt>
    <dgm:pt modelId="{24E56799-EAEB-499C-8F85-B3F9B900E0F0}" type="parTrans" cxnId="{B18644F3-F445-403D-83B1-48A413C5DDCE}">
      <dgm:prSet/>
      <dgm:spPr/>
      <dgm:t>
        <a:bodyPr/>
        <a:lstStyle/>
        <a:p>
          <a:endParaRPr lang="en-US"/>
        </a:p>
      </dgm:t>
    </dgm:pt>
    <dgm:pt modelId="{F42B322E-D2A2-403C-85C1-6CA842DC85E6}" type="sibTrans" cxnId="{B18644F3-F445-403D-83B1-48A413C5DDCE}">
      <dgm:prSet/>
      <dgm:spPr/>
      <dgm:t>
        <a:bodyPr/>
        <a:lstStyle/>
        <a:p>
          <a:endParaRPr lang="en-US"/>
        </a:p>
      </dgm:t>
    </dgm:pt>
    <dgm:pt modelId="{0792A79E-631E-47EC-A537-F1D8B0A75DD0}">
      <dgm:prSet/>
      <dgm:spPr/>
      <dgm:t>
        <a:bodyPr/>
        <a:lstStyle/>
        <a:p>
          <a:r>
            <a:rPr lang="en-US"/>
            <a:t>Brute Force</a:t>
          </a:r>
        </a:p>
      </dgm:t>
    </dgm:pt>
    <dgm:pt modelId="{40241403-18DA-4812-986B-0466ED2BF0DC}" type="parTrans" cxnId="{ADE3EF00-4290-49B6-92FA-5811AB05BB49}">
      <dgm:prSet/>
      <dgm:spPr/>
      <dgm:t>
        <a:bodyPr/>
        <a:lstStyle/>
        <a:p>
          <a:endParaRPr lang="en-US"/>
        </a:p>
      </dgm:t>
    </dgm:pt>
    <dgm:pt modelId="{DDA842E2-771A-4CF0-A88F-BA9555D69F4A}" type="sibTrans" cxnId="{ADE3EF00-4290-49B6-92FA-5811AB05BB49}">
      <dgm:prSet/>
      <dgm:spPr/>
      <dgm:t>
        <a:bodyPr/>
        <a:lstStyle/>
        <a:p>
          <a:endParaRPr lang="en-US"/>
        </a:p>
      </dgm:t>
    </dgm:pt>
    <dgm:pt modelId="{601DD1EF-989A-4853-A737-38758DAE1702}">
      <dgm:prSet/>
      <dgm:spPr/>
      <dgm:t>
        <a:bodyPr/>
        <a:lstStyle/>
        <a:p>
          <a:r>
            <a:rPr lang="en-US"/>
            <a:t>Implements more crossover methods and mutation methods from publications on genetic algorithms.</a:t>
          </a:r>
        </a:p>
      </dgm:t>
    </dgm:pt>
    <dgm:pt modelId="{BF231E9D-09C9-4B95-96A9-9DA22DC601AE}" type="parTrans" cxnId="{B874308B-8F66-4237-A094-75D445AED354}">
      <dgm:prSet/>
      <dgm:spPr/>
      <dgm:t>
        <a:bodyPr/>
        <a:lstStyle/>
        <a:p>
          <a:endParaRPr lang="en-US"/>
        </a:p>
      </dgm:t>
    </dgm:pt>
    <dgm:pt modelId="{3C2BD8D0-0787-402A-AAAF-D2EBE13C9BA6}" type="sibTrans" cxnId="{B874308B-8F66-4237-A094-75D445AED354}">
      <dgm:prSet/>
      <dgm:spPr/>
      <dgm:t>
        <a:bodyPr/>
        <a:lstStyle/>
        <a:p>
          <a:endParaRPr lang="en-US"/>
        </a:p>
      </dgm:t>
    </dgm:pt>
    <dgm:pt modelId="{8E2E7124-2FF8-4DF3-8DE4-3B7AF773027A}" type="pres">
      <dgm:prSet presAssocID="{89EAF33C-73A8-4AF6-99AB-D1D262673083}" presName="root" presStyleCnt="0">
        <dgm:presLayoutVars>
          <dgm:dir/>
          <dgm:resizeHandles val="exact"/>
        </dgm:presLayoutVars>
      </dgm:prSet>
      <dgm:spPr/>
    </dgm:pt>
    <dgm:pt modelId="{D1456455-4F6B-4F09-8EA7-9E1E982A6947}" type="pres">
      <dgm:prSet presAssocID="{58011FF0-CA48-459F-A81E-5ED56C645B3C}" presName="compNode" presStyleCnt="0"/>
      <dgm:spPr/>
    </dgm:pt>
    <dgm:pt modelId="{139CA79F-EEDC-446A-A11B-995930116B84}" type="pres">
      <dgm:prSet presAssocID="{58011FF0-CA48-459F-A81E-5ED56C645B3C}" presName="bgRect" presStyleLbl="bgShp" presStyleIdx="0" presStyleCnt="3"/>
      <dgm:spPr/>
    </dgm:pt>
    <dgm:pt modelId="{C8B7D83E-C880-4D7C-B2FE-2A7BCA8B800E}" type="pres">
      <dgm:prSet presAssocID="{58011FF0-CA48-459F-A81E-5ED56C645B3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8536999E-F769-4087-9F71-788719F3BEB6}" type="pres">
      <dgm:prSet presAssocID="{58011FF0-CA48-459F-A81E-5ED56C645B3C}" presName="spaceRect" presStyleCnt="0"/>
      <dgm:spPr/>
    </dgm:pt>
    <dgm:pt modelId="{1210F9BA-7E90-44DC-BCB4-D5CF26EDC653}" type="pres">
      <dgm:prSet presAssocID="{58011FF0-CA48-459F-A81E-5ED56C645B3C}" presName="parTx" presStyleLbl="revTx" presStyleIdx="0" presStyleCnt="3">
        <dgm:presLayoutVars>
          <dgm:chMax val="0"/>
          <dgm:chPref val="0"/>
        </dgm:presLayoutVars>
      </dgm:prSet>
      <dgm:spPr/>
    </dgm:pt>
    <dgm:pt modelId="{584D9D74-7519-40F3-8F79-97C6CBC2AF55}" type="pres">
      <dgm:prSet presAssocID="{F42B322E-D2A2-403C-85C1-6CA842DC85E6}" presName="sibTrans" presStyleCnt="0"/>
      <dgm:spPr/>
    </dgm:pt>
    <dgm:pt modelId="{782AB4D7-1940-4B82-8AC2-34DA92E3D917}" type="pres">
      <dgm:prSet presAssocID="{0792A79E-631E-47EC-A537-F1D8B0A75DD0}" presName="compNode" presStyleCnt="0"/>
      <dgm:spPr/>
    </dgm:pt>
    <dgm:pt modelId="{CB7FC4B9-A324-4B51-9002-7EFD6AA12797}" type="pres">
      <dgm:prSet presAssocID="{0792A79E-631E-47EC-A537-F1D8B0A75DD0}" presName="bgRect" presStyleLbl="bgShp" presStyleIdx="1" presStyleCnt="3"/>
      <dgm:spPr/>
    </dgm:pt>
    <dgm:pt modelId="{2A6DCAE7-8245-41A3-846E-EE8B8725A157}" type="pres">
      <dgm:prSet presAssocID="{0792A79E-631E-47EC-A537-F1D8B0A75DD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5FDDFB8-EAB6-488F-ACD9-5C826F7CFDE4}" type="pres">
      <dgm:prSet presAssocID="{0792A79E-631E-47EC-A537-F1D8B0A75DD0}" presName="spaceRect" presStyleCnt="0"/>
      <dgm:spPr/>
    </dgm:pt>
    <dgm:pt modelId="{0CD1C21A-D2D1-4830-B331-34F1E79A8E45}" type="pres">
      <dgm:prSet presAssocID="{0792A79E-631E-47EC-A537-F1D8B0A75DD0}" presName="parTx" presStyleLbl="revTx" presStyleIdx="1" presStyleCnt="3">
        <dgm:presLayoutVars>
          <dgm:chMax val="0"/>
          <dgm:chPref val="0"/>
        </dgm:presLayoutVars>
      </dgm:prSet>
      <dgm:spPr/>
    </dgm:pt>
    <dgm:pt modelId="{3FBA60B2-E5AC-4EBB-BF8D-4F5EFBA1F7CC}" type="pres">
      <dgm:prSet presAssocID="{DDA842E2-771A-4CF0-A88F-BA9555D69F4A}" presName="sibTrans" presStyleCnt="0"/>
      <dgm:spPr/>
    </dgm:pt>
    <dgm:pt modelId="{9766A14F-864A-428A-9C0E-50C143BA4571}" type="pres">
      <dgm:prSet presAssocID="{601DD1EF-989A-4853-A737-38758DAE1702}" presName="compNode" presStyleCnt="0"/>
      <dgm:spPr/>
    </dgm:pt>
    <dgm:pt modelId="{7482EE34-F65D-4040-9252-92C5AE1A356B}" type="pres">
      <dgm:prSet presAssocID="{601DD1EF-989A-4853-A737-38758DAE1702}" presName="bgRect" presStyleLbl="bgShp" presStyleIdx="2" presStyleCnt="3"/>
      <dgm:spPr/>
    </dgm:pt>
    <dgm:pt modelId="{99DA479D-8F26-4DB5-B153-FA2BE86CDB26}" type="pres">
      <dgm:prSet presAssocID="{601DD1EF-989A-4853-A737-38758DAE17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7B1EFF97-B565-43DF-89FD-9C8956FCE94A}" type="pres">
      <dgm:prSet presAssocID="{601DD1EF-989A-4853-A737-38758DAE1702}" presName="spaceRect" presStyleCnt="0"/>
      <dgm:spPr/>
    </dgm:pt>
    <dgm:pt modelId="{5F7AF045-151E-4BFC-A8C5-FA66F2AAFB9E}" type="pres">
      <dgm:prSet presAssocID="{601DD1EF-989A-4853-A737-38758DAE17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DE3EF00-4290-49B6-92FA-5811AB05BB49}" srcId="{89EAF33C-73A8-4AF6-99AB-D1D262673083}" destId="{0792A79E-631E-47EC-A537-F1D8B0A75DD0}" srcOrd="1" destOrd="0" parTransId="{40241403-18DA-4812-986B-0466ED2BF0DC}" sibTransId="{DDA842E2-771A-4CF0-A88F-BA9555D69F4A}"/>
    <dgm:cxn modelId="{FA746172-A816-46D7-B878-98815FCBCB96}" type="presOf" srcId="{58011FF0-CA48-459F-A81E-5ED56C645B3C}" destId="{1210F9BA-7E90-44DC-BCB4-D5CF26EDC653}" srcOrd="0" destOrd="0" presId="urn:microsoft.com/office/officeart/2018/2/layout/IconVerticalSolidList"/>
    <dgm:cxn modelId="{B874308B-8F66-4237-A094-75D445AED354}" srcId="{89EAF33C-73A8-4AF6-99AB-D1D262673083}" destId="{601DD1EF-989A-4853-A737-38758DAE1702}" srcOrd="2" destOrd="0" parTransId="{BF231E9D-09C9-4B95-96A9-9DA22DC601AE}" sibTransId="{3C2BD8D0-0787-402A-AAAF-D2EBE13C9BA6}"/>
    <dgm:cxn modelId="{22C75AA5-CA62-4FD9-A682-6F3A35B6BFAA}" type="presOf" srcId="{0792A79E-631E-47EC-A537-F1D8B0A75DD0}" destId="{0CD1C21A-D2D1-4830-B331-34F1E79A8E45}" srcOrd="0" destOrd="0" presId="urn:microsoft.com/office/officeart/2018/2/layout/IconVerticalSolidList"/>
    <dgm:cxn modelId="{A81C2DB5-77BB-41F5-84C0-DDA1BF9368F5}" type="presOf" srcId="{601DD1EF-989A-4853-A737-38758DAE1702}" destId="{5F7AF045-151E-4BFC-A8C5-FA66F2AAFB9E}" srcOrd="0" destOrd="0" presId="urn:microsoft.com/office/officeart/2018/2/layout/IconVerticalSolidList"/>
    <dgm:cxn modelId="{0BF3FBEA-51F5-4D8D-82DE-81498202DB27}" type="presOf" srcId="{89EAF33C-73A8-4AF6-99AB-D1D262673083}" destId="{8E2E7124-2FF8-4DF3-8DE4-3B7AF773027A}" srcOrd="0" destOrd="0" presId="urn:microsoft.com/office/officeart/2018/2/layout/IconVerticalSolidList"/>
    <dgm:cxn modelId="{B18644F3-F445-403D-83B1-48A413C5DDCE}" srcId="{89EAF33C-73A8-4AF6-99AB-D1D262673083}" destId="{58011FF0-CA48-459F-A81E-5ED56C645B3C}" srcOrd="0" destOrd="0" parTransId="{24E56799-EAEB-499C-8F85-B3F9B900E0F0}" sibTransId="{F42B322E-D2A2-403C-85C1-6CA842DC85E6}"/>
    <dgm:cxn modelId="{F37D0A94-CD4E-4D51-93D2-A9022AC62DA7}" type="presParOf" srcId="{8E2E7124-2FF8-4DF3-8DE4-3B7AF773027A}" destId="{D1456455-4F6B-4F09-8EA7-9E1E982A6947}" srcOrd="0" destOrd="0" presId="urn:microsoft.com/office/officeart/2018/2/layout/IconVerticalSolidList"/>
    <dgm:cxn modelId="{3816F990-3669-4087-92C7-B8D9FF3B64FF}" type="presParOf" srcId="{D1456455-4F6B-4F09-8EA7-9E1E982A6947}" destId="{139CA79F-EEDC-446A-A11B-995930116B84}" srcOrd="0" destOrd="0" presId="urn:microsoft.com/office/officeart/2018/2/layout/IconVerticalSolidList"/>
    <dgm:cxn modelId="{D2BEFE01-5966-4C6D-8B38-81795B07AF16}" type="presParOf" srcId="{D1456455-4F6B-4F09-8EA7-9E1E982A6947}" destId="{C8B7D83E-C880-4D7C-B2FE-2A7BCA8B800E}" srcOrd="1" destOrd="0" presId="urn:microsoft.com/office/officeart/2018/2/layout/IconVerticalSolidList"/>
    <dgm:cxn modelId="{EB3F6179-1EC3-4B03-8733-E65B102CB5B1}" type="presParOf" srcId="{D1456455-4F6B-4F09-8EA7-9E1E982A6947}" destId="{8536999E-F769-4087-9F71-788719F3BEB6}" srcOrd="2" destOrd="0" presId="urn:microsoft.com/office/officeart/2018/2/layout/IconVerticalSolidList"/>
    <dgm:cxn modelId="{4F438FC8-96CA-4E49-B009-0773C63D82E0}" type="presParOf" srcId="{D1456455-4F6B-4F09-8EA7-9E1E982A6947}" destId="{1210F9BA-7E90-44DC-BCB4-D5CF26EDC653}" srcOrd="3" destOrd="0" presId="urn:microsoft.com/office/officeart/2018/2/layout/IconVerticalSolidList"/>
    <dgm:cxn modelId="{EB9FF12C-8628-4D80-A522-C17441566ABA}" type="presParOf" srcId="{8E2E7124-2FF8-4DF3-8DE4-3B7AF773027A}" destId="{584D9D74-7519-40F3-8F79-97C6CBC2AF55}" srcOrd="1" destOrd="0" presId="urn:microsoft.com/office/officeart/2018/2/layout/IconVerticalSolidList"/>
    <dgm:cxn modelId="{D73A9CD1-C8BA-4C88-992A-4C884FC7D4C3}" type="presParOf" srcId="{8E2E7124-2FF8-4DF3-8DE4-3B7AF773027A}" destId="{782AB4D7-1940-4B82-8AC2-34DA92E3D917}" srcOrd="2" destOrd="0" presId="urn:microsoft.com/office/officeart/2018/2/layout/IconVerticalSolidList"/>
    <dgm:cxn modelId="{9796D4E5-42C5-4664-8847-11F25B5B81A0}" type="presParOf" srcId="{782AB4D7-1940-4B82-8AC2-34DA92E3D917}" destId="{CB7FC4B9-A324-4B51-9002-7EFD6AA12797}" srcOrd="0" destOrd="0" presId="urn:microsoft.com/office/officeart/2018/2/layout/IconVerticalSolidList"/>
    <dgm:cxn modelId="{ACF06B84-2044-479F-B8EB-4A1C98CDC9B0}" type="presParOf" srcId="{782AB4D7-1940-4B82-8AC2-34DA92E3D917}" destId="{2A6DCAE7-8245-41A3-846E-EE8B8725A157}" srcOrd="1" destOrd="0" presId="urn:microsoft.com/office/officeart/2018/2/layout/IconVerticalSolidList"/>
    <dgm:cxn modelId="{9AFACAE7-5EB3-4F3B-9974-8C7B1A605CF3}" type="presParOf" srcId="{782AB4D7-1940-4B82-8AC2-34DA92E3D917}" destId="{85FDDFB8-EAB6-488F-ACD9-5C826F7CFDE4}" srcOrd="2" destOrd="0" presId="urn:microsoft.com/office/officeart/2018/2/layout/IconVerticalSolidList"/>
    <dgm:cxn modelId="{0290C69C-F9FC-46F1-B0DB-FDE216493EE9}" type="presParOf" srcId="{782AB4D7-1940-4B82-8AC2-34DA92E3D917}" destId="{0CD1C21A-D2D1-4830-B331-34F1E79A8E45}" srcOrd="3" destOrd="0" presId="urn:microsoft.com/office/officeart/2018/2/layout/IconVerticalSolidList"/>
    <dgm:cxn modelId="{9A10E977-8B9B-4A1D-A49B-65EBCF433AE7}" type="presParOf" srcId="{8E2E7124-2FF8-4DF3-8DE4-3B7AF773027A}" destId="{3FBA60B2-E5AC-4EBB-BF8D-4F5EFBA1F7CC}" srcOrd="3" destOrd="0" presId="urn:microsoft.com/office/officeart/2018/2/layout/IconVerticalSolidList"/>
    <dgm:cxn modelId="{2D556AC8-3D57-4C5C-8D67-B781C96BD21A}" type="presParOf" srcId="{8E2E7124-2FF8-4DF3-8DE4-3B7AF773027A}" destId="{9766A14F-864A-428A-9C0E-50C143BA4571}" srcOrd="4" destOrd="0" presId="urn:microsoft.com/office/officeart/2018/2/layout/IconVerticalSolidList"/>
    <dgm:cxn modelId="{D7A8E2D6-7CE4-4317-83B7-7C8A661DB0F1}" type="presParOf" srcId="{9766A14F-864A-428A-9C0E-50C143BA4571}" destId="{7482EE34-F65D-4040-9252-92C5AE1A356B}" srcOrd="0" destOrd="0" presId="urn:microsoft.com/office/officeart/2018/2/layout/IconVerticalSolidList"/>
    <dgm:cxn modelId="{4868CC50-1049-40C2-948D-130E86235038}" type="presParOf" srcId="{9766A14F-864A-428A-9C0E-50C143BA4571}" destId="{99DA479D-8F26-4DB5-B153-FA2BE86CDB26}" srcOrd="1" destOrd="0" presId="urn:microsoft.com/office/officeart/2018/2/layout/IconVerticalSolidList"/>
    <dgm:cxn modelId="{DB41B46A-24C1-4768-812E-B3A70E1D320F}" type="presParOf" srcId="{9766A14F-864A-428A-9C0E-50C143BA4571}" destId="{7B1EFF97-B565-43DF-89FD-9C8956FCE94A}" srcOrd="2" destOrd="0" presId="urn:microsoft.com/office/officeart/2018/2/layout/IconVerticalSolidList"/>
    <dgm:cxn modelId="{5D2F7F2A-5F65-4CAA-9766-9C8952C3E35E}" type="presParOf" srcId="{9766A14F-864A-428A-9C0E-50C143BA4571}" destId="{5F7AF045-151E-4BFC-A8C5-FA66F2AAFB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576F8-FA70-E047-AF63-9AB3386A2906}">
      <dsp:nvSpPr>
        <dsp:cNvPr id="0" name=""/>
        <dsp:cNvSpPr/>
      </dsp:nvSpPr>
      <dsp:spPr>
        <a:xfrm>
          <a:off x="0" y="0"/>
          <a:ext cx="5228828" cy="158305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was difficult to perform a comparison result with just the genetic algorithm.</a:t>
          </a:r>
        </a:p>
      </dsp:txBody>
      <dsp:txXfrm>
        <a:off x="46366" y="46366"/>
        <a:ext cx="3520588" cy="1490323"/>
      </dsp:txXfrm>
    </dsp:sp>
    <dsp:sp modelId="{D62EEC7C-5EF8-A542-A95B-3817F560DEA4}">
      <dsp:nvSpPr>
        <dsp:cNvPr id="0" name=""/>
        <dsp:cNvSpPr/>
      </dsp:nvSpPr>
      <dsp:spPr>
        <a:xfrm>
          <a:off x="461367" y="1846897"/>
          <a:ext cx="5228828" cy="15830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WoC results didn’t perform as expected they would. Depending on the number of Vehicles the result will fluctuate. </a:t>
          </a:r>
        </a:p>
      </dsp:txBody>
      <dsp:txXfrm>
        <a:off x="507733" y="1893263"/>
        <a:ext cx="3645743" cy="1490323"/>
      </dsp:txXfrm>
    </dsp:sp>
    <dsp:sp modelId="{F5F607AB-28BB-6942-9C86-E3537BD3A14A}">
      <dsp:nvSpPr>
        <dsp:cNvPr id="0" name=""/>
        <dsp:cNvSpPr/>
      </dsp:nvSpPr>
      <dsp:spPr>
        <a:xfrm>
          <a:off x="922734" y="3693795"/>
          <a:ext cx="5228828" cy="1583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seems like the vehicle would make multiple trips back to the original depo instead of going straight to the next stop.</a:t>
          </a:r>
        </a:p>
      </dsp:txBody>
      <dsp:txXfrm>
        <a:off x="969100" y="3740161"/>
        <a:ext cx="3645743" cy="1490323"/>
      </dsp:txXfrm>
    </dsp:sp>
    <dsp:sp modelId="{3C87B458-1406-B548-B4D7-62199E5E8641}">
      <dsp:nvSpPr>
        <dsp:cNvPr id="0" name=""/>
        <dsp:cNvSpPr/>
      </dsp:nvSpPr>
      <dsp:spPr>
        <a:xfrm>
          <a:off x="4199842" y="1200483"/>
          <a:ext cx="1028985" cy="102898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431364" y="1200483"/>
        <a:ext cx="565941" cy="774311"/>
      </dsp:txXfrm>
    </dsp:sp>
    <dsp:sp modelId="{71D99AE7-553D-6A49-8076-5D9FB695D348}">
      <dsp:nvSpPr>
        <dsp:cNvPr id="0" name=""/>
        <dsp:cNvSpPr/>
      </dsp:nvSpPr>
      <dsp:spPr>
        <a:xfrm>
          <a:off x="4661210" y="3036827"/>
          <a:ext cx="1028985" cy="102898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892732" y="3036827"/>
        <a:ext cx="565941" cy="7743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CA79F-EEDC-446A-A11B-995930116B84}">
      <dsp:nvSpPr>
        <dsp:cNvPr id="0" name=""/>
        <dsp:cNvSpPr/>
      </dsp:nvSpPr>
      <dsp:spPr>
        <a:xfrm>
          <a:off x="0" y="601"/>
          <a:ext cx="5607050" cy="14075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7D83E-C880-4D7C-B2FE-2A7BCA8B800E}">
      <dsp:nvSpPr>
        <dsp:cNvPr id="0" name=""/>
        <dsp:cNvSpPr/>
      </dsp:nvSpPr>
      <dsp:spPr>
        <a:xfrm>
          <a:off x="425781" y="317298"/>
          <a:ext cx="774148" cy="7741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0F9BA-7E90-44DC-BCB4-D5CF26EDC653}">
      <dsp:nvSpPr>
        <dsp:cNvPr id="0" name=""/>
        <dsp:cNvSpPr/>
      </dsp:nvSpPr>
      <dsp:spPr>
        <a:xfrm>
          <a:off x="1625711" y="601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Fixing the code.</a:t>
          </a:r>
        </a:p>
      </dsp:txBody>
      <dsp:txXfrm>
        <a:off x="1625711" y="601"/>
        <a:ext cx="3981338" cy="1407541"/>
      </dsp:txXfrm>
    </dsp:sp>
    <dsp:sp modelId="{CB7FC4B9-A324-4B51-9002-7EFD6AA12797}">
      <dsp:nvSpPr>
        <dsp:cNvPr id="0" name=""/>
        <dsp:cNvSpPr/>
      </dsp:nvSpPr>
      <dsp:spPr>
        <a:xfrm>
          <a:off x="0" y="1760029"/>
          <a:ext cx="5607050" cy="14075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DCAE7-8245-41A3-846E-EE8B8725A157}">
      <dsp:nvSpPr>
        <dsp:cNvPr id="0" name=""/>
        <dsp:cNvSpPr/>
      </dsp:nvSpPr>
      <dsp:spPr>
        <a:xfrm>
          <a:off x="425781" y="2076725"/>
          <a:ext cx="774148" cy="7741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1C21A-D2D1-4830-B331-34F1E79A8E45}">
      <dsp:nvSpPr>
        <dsp:cNvPr id="0" name=""/>
        <dsp:cNvSpPr/>
      </dsp:nvSpPr>
      <dsp:spPr>
        <a:xfrm>
          <a:off x="1625711" y="1760029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Brute Force</a:t>
          </a:r>
        </a:p>
      </dsp:txBody>
      <dsp:txXfrm>
        <a:off x="1625711" y="1760029"/>
        <a:ext cx="3981338" cy="1407541"/>
      </dsp:txXfrm>
    </dsp:sp>
    <dsp:sp modelId="{7482EE34-F65D-4040-9252-92C5AE1A356B}">
      <dsp:nvSpPr>
        <dsp:cNvPr id="0" name=""/>
        <dsp:cNvSpPr/>
      </dsp:nvSpPr>
      <dsp:spPr>
        <a:xfrm>
          <a:off x="0" y="3519456"/>
          <a:ext cx="5607050" cy="14075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DA479D-8F26-4DB5-B153-FA2BE86CDB26}">
      <dsp:nvSpPr>
        <dsp:cNvPr id="0" name=""/>
        <dsp:cNvSpPr/>
      </dsp:nvSpPr>
      <dsp:spPr>
        <a:xfrm>
          <a:off x="425781" y="3836153"/>
          <a:ext cx="774148" cy="7741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AF045-151E-4BFC-A8C5-FA66F2AAFB9E}">
      <dsp:nvSpPr>
        <dsp:cNvPr id="0" name=""/>
        <dsp:cNvSpPr/>
      </dsp:nvSpPr>
      <dsp:spPr>
        <a:xfrm>
          <a:off x="1625711" y="3519456"/>
          <a:ext cx="3981338" cy="140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65" tIns="148965" rIns="148965" bIns="14896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Implements more crossover methods and mutation methods from publications on genetic algorithms.</a:t>
          </a:r>
        </a:p>
      </dsp:txBody>
      <dsp:txXfrm>
        <a:off x="1625711" y="3519456"/>
        <a:ext cx="3981338" cy="1407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8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2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53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90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7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9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3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9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358CA13-E805-A44B-810B-A446481262A4}" type="datetimeFigureOut">
              <a:rPr lang="en-US" smtClean="0"/>
              <a:t>11/11/20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57C6827-8280-3647-BD4F-32EEAFE9F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2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engineering/genetic-algorith" TargetMode="External"/><Relationship Id="rId2" Type="http://schemas.openxmlformats.org/officeDocument/2006/relationships/hyperlink" Target="https://towardsdatascience.com/evolution-of-a-salesman-a-complete-genetic-%20algorithm-tutorial-for-python-6fe5d2b3ca3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045DC-CFA0-6744-B04D-7ABA3EE53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1435" y="2386744"/>
            <a:ext cx="4486656" cy="164592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Routing Problem: Wisdom of Crowds using Genetic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0BB56-6B8C-964F-8C59-C55C76E6A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78" y="4352544"/>
            <a:ext cx="3798770" cy="1239894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Lindie Chenou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DEE68-6B15-49E1-8C6F-EE553B05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30" y="640080"/>
            <a:ext cx="5455920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F07C8-CCA3-4D2E-A900-8396148C1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8" y="802767"/>
            <a:ext cx="512978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ircuit board&#10;&#10;Description automatically generated">
            <a:extLst>
              <a:ext uri="{FF2B5EF4-FFF2-40B4-BE49-F238E27FC236}">
                <a16:creationId xmlns:a16="http://schemas.microsoft.com/office/drawing/2014/main" id="{F1A929CC-11A9-DB4E-8888-DBE8925E3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407" r="19091"/>
          <a:stretch/>
        </p:blipFill>
        <p:spPr>
          <a:xfrm>
            <a:off x="1126238" y="1122807"/>
            <a:ext cx="4489704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7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0969-390D-BA44-9593-7620732DC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Vehicle Routing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BA366-DC8F-684F-BE47-06E716915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en-US" dirty="0"/>
              <a:t>It first appeared in a paper published in 1959 by George Dantzig and John Ramser in which the first algorithmic methods were written and applied to supplies of fuel </a:t>
            </a:r>
          </a:p>
          <a:p>
            <a:r>
              <a:rPr lang="en-US" dirty="0"/>
              <a:t>The VRP’s aim is to minimize the cost of the total path </a:t>
            </a:r>
          </a:p>
          <a:p>
            <a:r>
              <a:rPr lang="en-US" dirty="0"/>
              <a:t>Given a set of customers, and a fleet of vehicles to make deliveries, find a set of routes that services all customers at minimum cost.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F9DCBD-DFD3-134B-835B-2651AF839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5890" y="2212552"/>
            <a:ext cx="3328416" cy="244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D1A5-B0FA-F045-8984-3DC98F14C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3066937" cy="1188720"/>
          </a:xfrm>
        </p:spPr>
        <p:txBody>
          <a:bodyPr>
            <a:normAutofit/>
          </a:bodyPr>
          <a:lstStyle/>
          <a:p>
            <a:r>
              <a:rPr lang="en-US" dirty="0"/>
              <a:t>Genetic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5D263-3F12-084B-9D0E-84A24DCFF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4" y="2638044"/>
            <a:ext cx="3063765" cy="3263206"/>
          </a:xfrm>
        </p:spPr>
        <p:txBody>
          <a:bodyPr>
            <a:normAutofit/>
          </a:bodyPr>
          <a:lstStyle/>
          <a:p>
            <a:r>
              <a:rPr lang="en-US" dirty="0"/>
              <a:t>A genetic representation of a solution</a:t>
            </a:r>
          </a:p>
          <a:p>
            <a:r>
              <a:rPr lang="en-US" dirty="0"/>
              <a:t>A function to generate new solutions</a:t>
            </a:r>
          </a:p>
          <a:p>
            <a:r>
              <a:rPr lang="en-US" dirty="0"/>
              <a:t>Fitness function</a:t>
            </a:r>
          </a:p>
          <a:p>
            <a:r>
              <a:rPr lang="en-US" dirty="0"/>
              <a:t>A selection function</a:t>
            </a:r>
          </a:p>
          <a:p>
            <a:r>
              <a:rPr lang="en-US" dirty="0"/>
              <a:t>Crossover function</a:t>
            </a:r>
          </a:p>
          <a:p>
            <a:r>
              <a:rPr lang="en-US" dirty="0"/>
              <a:t>Mutation function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6E342AF-CDF3-054C-8D29-3EE98101B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66" y="1339121"/>
            <a:ext cx="6227064" cy="41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AA13-F55F-2B4A-839A-E83AEE49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28" y="964692"/>
            <a:ext cx="6092952" cy="1188720"/>
          </a:xfrm>
        </p:spPr>
        <p:txBody>
          <a:bodyPr>
            <a:normAutofit/>
          </a:bodyPr>
          <a:lstStyle/>
          <a:p>
            <a:r>
              <a:rPr lang="en-US" dirty="0"/>
              <a:t>Genetic algorithm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60A836FC-3440-D14A-8B9F-7FCB2D1B9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94" y="964692"/>
            <a:ext cx="3516705" cy="2303442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755E8738-4A95-284D-BA64-8CF91A3DE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12184"/>
            <a:ext cx="3707652" cy="1649904"/>
          </a:xfrm>
          <a:prstGeom prst="rect">
            <a:avLst/>
          </a:prstGeom>
          <a:ln w="31750" cap="sq">
            <a:solidFill>
              <a:srgbClr val="FFFFFF"/>
            </a:solidFill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02F84-3200-DC49-A24F-265AD3883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46" y="2475145"/>
            <a:ext cx="6142233" cy="3409259"/>
          </a:xfrm>
        </p:spPr>
        <p:txBody>
          <a:bodyPr>
            <a:normAutofit/>
          </a:bodyPr>
          <a:lstStyle/>
          <a:p>
            <a:r>
              <a:rPr lang="en-US" dirty="0"/>
              <a:t>Crossover Method</a:t>
            </a:r>
          </a:p>
          <a:p>
            <a:pPr lvl="1"/>
            <a:r>
              <a:rPr lang="en-US" dirty="0"/>
              <a:t>Using the ordered crossover.</a:t>
            </a:r>
          </a:p>
          <a:p>
            <a:r>
              <a:rPr lang="en-US" dirty="0"/>
              <a:t>Mutation Method</a:t>
            </a:r>
          </a:p>
          <a:p>
            <a:pPr lvl="1"/>
            <a:r>
              <a:rPr lang="en-US" dirty="0"/>
              <a:t>Swap mutation</a:t>
            </a:r>
          </a:p>
        </p:txBody>
      </p:sp>
    </p:spTree>
    <p:extLst>
      <p:ext uri="{BB962C8B-B14F-4D97-AF65-F5344CB8AC3E}">
        <p14:creationId xmlns:p14="http://schemas.microsoft.com/office/powerpoint/2010/main" val="170549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0DE9-F2D7-1C40-A5CA-4353D83D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Genetic Algorithm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0F143B-3981-4FC2-BB15-0C586763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9C35632-EF6C-D34D-978F-A27B49B20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618" y="640080"/>
            <a:ext cx="3091714" cy="2544223"/>
          </a:xfrm>
          <a:prstGeom prst="rect">
            <a:avLst/>
          </a:prstGeom>
        </p:spPr>
      </p:pic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3C32A30-178A-EB47-A16C-83951A631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82421" y="3671316"/>
            <a:ext cx="4520107" cy="233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1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2FF6-3BFD-6D4A-9726-E18C891F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Wisdom of Crowds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0F143B-3981-4FC2-BB15-0C586763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430806F6-6408-AC40-84D7-05712449C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3030" y="961798"/>
            <a:ext cx="4818890" cy="2222505"/>
          </a:xfrm>
          <a:prstGeom prst="rect">
            <a:avLst/>
          </a:prstGeom>
        </p:spPr>
      </p:pic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4BC2395-96B5-0147-A1E6-E375904BE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030" y="3671316"/>
            <a:ext cx="4818890" cy="15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9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909A9-9AF4-AE4D-9D1F-7AEF3C8D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Approach for VRP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506655-B970-47ED-BFDA-5838E0B16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40555"/>
            <a:ext cx="10911840" cy="33120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F4128B-B32E-45A4-BB94-297D82C3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6112"/>
            <a:ext cx="10579608" cy="2980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6785A24-DEFB-904C-99C5-497955C13C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37" r="25839" b="3"/>
          <a:stretch/>
        </p:blipFill>
        <p:spPr>
          <a:xfrm>
            <a:off x="970790" y="970704"/>
            <a:ext cx="5036481" cy="2651760"/>
          </a:xfrm>
          <a:prstGeom prst="rect">
            <a:avLst/>
          </a:prstGeom>
        </p:spPr>
      </p:pic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EF3F6F70-5200-324F-AF0D-752D665BF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438" r="15671" b="-3"/>
          <a:stretch/>
        </p:blipFill>
        <p:spPr>
          <a:xfrm>
            <a:off x="6173383" y="970705"/>
            <a:ext cx="5047828" cy="26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1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7CF224F6-1D7F-0F43-BF05-5C715B4B1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2" b="980"/>
          <a:stretch/>
        </p:blipFill>
        <p:spPr>
          <a:xfrm>
            <a:off x="3348653" y="1271015"/>
            <a:ext cx="6391785" cy="4636007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E970D-31CE-CA4B-87CE-3E6CE897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000">
                <a:solidFill>
                  <a:srgbClr val="FFFFFF"/>
                </a:solidFill>
              </a:rPr>
              <a:t>Approach for VRP</a:t>
            </a:r>
          </a:p>
        </p:txBody>
      </p:sp>
    </p:spTree>
    <p:extLst>
      <p:ext uri="{BB962C8B-B14F-4D97-AF65-F5344CB8AC3E}">
        <p14:creationId xmlns:p14="http://schemas.microsoft.com/office/powerpoint/2010/main" val="338113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A21C72-692C-49FD-9EB4-DDDDDEBD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405" y="950977"/>
            <a:ext cx="9041190" cy="4956047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Chart, radar chart&#10;&#10;Description automatically generated">
            <a:extLst>
              <a:ext uri="{FF2B5EF4-FFF2-40B4-BE49-F238E27FC236}">
                <a16:creationId xmlns:a16="http://schemas.microsoft.com/office/drawing/2014/main" id="{74C23CA0-B956-B743-84C6-48DD2C17D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6210" y="1746970"/>
            <a:ext cx="7915425" cy="336406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FBAF941A-6830-47A3-B63C-7C7B66AEA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80" y="624518"/>
            <a:ext cx="2157984" cy="2157984"/>
          </a:xfrm>
          <a:prstGeom prst="ellipse">
            <a:avLst/>
          </a:prstGeom>
          <a:solidFill>
            <a:srgbClr val="404040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67DAD-3DDE-BB49-A476-90C19D40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972" y="789110"/>
            <a:ext cx="1828800" cy="18288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2775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61973C-D7BC-4397-B86E-9E0A93397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044" y="745236"/>
            <a:ext cx="10725912" cy="5367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67D05-2141-47A3-A4E0-42AF4AB00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8266" y="-2013796"/>
            <a:ext cx="5535469" cy="10885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82E277BE-12E8-C145-9A8B-6B580338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776" y="1585960"/>
            <a:ext cx="4876631" cy="3694047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87BA2BBF-C7EE-B740-830A-007B2CDE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6" y="1592055"/>
            <a:ext cx="4876632" cy="368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9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6A9AE5-69DF-4153-B35A-94BDEF32E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3B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B5318-27A8-4E50-80D9-B92D4F28E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5248656"/>
          </a:xfrm>
          <a:prstGeom prst="rect">
            <a:avLst/>
          </a:prstGeom>
          <a:solidFill>
            <a:schemeClr val="bg1"/>
          </a:solidFill>
          <a:ln w="2540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9B255A20-8AD4-ED4C-998B-0EB77A75F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18" y="1124712"/>
            <a:ext cx="5985163" cy="46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84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88EA3-C0E0-034E-8BCD-F341A64E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findings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67E6CD-5704-44F5-B8A9-F8AC9C1D8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696440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9692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A34E6-C879-4F46-AFCF-F5560A5A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236161-E19D-481D-B953-80875ECC57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77471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8485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3FE7-DAE4-AA43-801B-AA7134127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DF950-B755-3A4A-AC43-46EDFCE1E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https://towardsdatascience.com/evolution-of-a-salesman-a-complete-genetic- algorithm-tutorial-for-python-6fe5d2b3ca35</a:t>
            </a:r>
            <a:endParaRPr lang="en-US" dirty="0"/>
          </a:p>
          <a:p>
            <a:r>
              <a:rPr lang="en-US" dirty="0">
                <a:hlinkClick r:id="rId3"/>
              </a:rPr>
              <a:t>https://www.sciencedirect.com/topics/engineering/genetic-algorith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towardsdatascience.com</a:t>
            </a:r>
            <a:r>
              <a:rPr lang="en-US" dirty="0"/>
              <a:t>/introduction-to-optimization-with-genetic- algorithm-2f5001d9964b</a:t>
            </a:r>
          </a:p>
          <a:p>
            <a:r>
              <a:rPr lang="en-US" dirty="0"/>
              <a:t>B. L. Golden, S. Raghavan, and E. A. </a:t>
            </a:r>
            <a:r>
              <a:rPr lang="en-US" dirty="0" err="1"/>
              <a:t>Wasil</a:t>
            </a:r>
            <a:r>
              <a:rPr lang="en-US" dirty="0"/>
              <a:t>, </a:t>
            </a:r>
            <a:r>
              <a:rPr lang="en-US" i="1" dirty="0"/>
              <a:t>The vehicle routing problem: latest advances and new challenges</a:t>
            </a:r>
            <a:r>
              <a:rPr lang="en-US" dirty="0"/>
              <a:t>. </a:t>
            </a:r>
            <a:r>
              <a:rPr lang="en-US"/>
              <a:t>New York: Springer, 2011.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9406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278</Words>
  <Application>Microsoft Macintosh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Times New Roman</vt:lpstr>
      <vt:lpstr>Parcel</vt:lpstr>
      <vt:lpstr>Vehicle Routing Problem: Wisdom of Crowds using Genetic Algorithms</vt:lpstr>
      <vt:lpstr>The Vehicle Routing Problem</vt:lpstr>
      <vt:lpstr>Genetic Algorithms</vt:lpstr>
      <vt:lpstr>Genetic algorithm</vt:lpstr>
      <vt:lpstr>Genetic Algorithm</vt:lpstr>
      <vt:lpstr>Wisdom of Crowds</vt:lpstr>
      <vt:lpstr>Approach for VRP</vt:lpstr>
      <vt:lpstr>Approach for VRP</vt:lpstr>
      <vt:lpstr>results</vt:lpstr>
      <vt:lpstr>PowerPoint Presentation</vt:lpstr>
      <vt:lpstr>PowerPoint Presentation</vt:lpstr>
      <vt:lpstr>findings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Routing Problem: Wisdom of Crowds using Genetic Algorithms</dc:title>
  <dc:creator>Chenou,Lindie Claude</dc:creator>
  <cp:lastModifiedBy>Chenou,Lindie Claude</cp:lastModifiedBy>
  <cp:revision>2</cp:revision>
  <dcterms:created xsi:type="dcterms:W3CDTF">2020-11-11T05:32:04Z</dcterms:created>
  <dcterms:modified xsi:type="dcterms:W3CDTF">2020-11-12T04:09:47Z</dcterms:modified>
</cp:coreProperties>
</file>